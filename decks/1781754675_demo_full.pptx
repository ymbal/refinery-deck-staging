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640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6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INDUSTRIAL AI · BANGKOK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8778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spc="-5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Your Operations.
Refined.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5074920"/>
            <a:ext cx="3840480" cy="0"/>
          </a:xfrm>
          <a:prstGeom prst="bentConnector3">
            <a:avLst/>
          </a:prstGeom>
          <a:ln w="19050">
            <a:solidFill>
              <a:srgbClr val="C94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25780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Document intelligence and autonomous workflow systems for Thai enterprise.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Refinery.co  ·  www.refinery-agi.com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0" spc="-10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977639"/>
            <a:ext cx="4572000" cy="0"/>
          </a:xfrm>
          <a:prstGeom prst="bentConnector3">
            <a:avLst/>
          </a:prstGeom>
          <a:ln w="1270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THE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From raw input to precision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217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3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THE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Four stages, one pipeline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" y="2788920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Raw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81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Invoices, receipts, statements — any document, any format, Thai or English.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867911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AI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OCR and language models extract, classify and reconcile every 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946903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55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951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Human-in-the-loop review eliminates error before anything is committed.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025895"/>
            <a:ext cx="109728" cy="109728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34455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Precision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18503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Structured data deployed straight into your accounting stack.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Where the value lands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97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4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For finance teams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154680"/>
            <a:ext cx="5074920" cy="0"/>
          </a:xfrm>
          <a:prstGeom prst="bentConnector3">
            <a:avLst/>
          </a:prstGeom>
          <a:ln w="9525">
            <a:solidFill>
              <a:srgbClr val="2B5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" y="3456432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383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Month-end close cut from days to 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23360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502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Zero manual re-keying of line items.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517136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Audit trail on every extracted field.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97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spc="4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For operations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3154680"/>
            <a:ext cx="5074920" cy="0"/>
          </a:xfrm>
          <a:prstGeom prst="bentConnector3">
            <a:avLst/>
          </a:prstGeom>
          <a:ln w="9525">
            <a:solidFill>
              <a:srgbClr val="2B5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09360" y="3456432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383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Throughput scales without headcount.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9502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Thai and English handled natively — เอกสารภาษาไทย.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90288"/>
            <a:ext cx="91440" cy="91440"/>
          </a:xfrm>
          <a:prstGeom prst="rect">
            <a:avLst/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517136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Deploys into existing accounting stacks.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97880" y="2697480"/>
            <a:ext cx="0" cy="3108960"/>
          </a:xfrm>
          <a:prstGeom prst="bentConnector3">
            <a:avLst/>
          </a:prstGeom>
          <a:ln w="6350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LIVE ·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241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4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Throughput, measured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286000"/>
            <a:ext cx="10545775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74320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44368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67588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FASTER MONTH-END CLOSE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34840"/>
            <a:ext cx="2971800" cy="1417320"/>
          </a:xfrm>
          <a:prstGeom prst="roundRect">
            <a:avLst>
              <a:gd name="adj" fmla="val 8960"/>
            </a:avLst>
          </a:prstGeom>
          <a:solidFill>
            <a:srgbClr val="22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36007"/>
            <a:ext cx="2423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50">
                <a:solidFill>
                  <a:srgbClr val="F0ECE4"/>
                </a:solidFill>
                <a:latin typeface="Urbanist"/>
                <a:cs typeface="Noto Sans Thai"/>
                <a:ea typeface="Noto Sans Thai"/>
              </a:rPr>
              <a:t>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367527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3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MANUAL ENTRY ELIMINATED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5852160"/>
            <a:ext cx="6583680" cy="0"/>
          </a:xfrm>
          <a:prstGeom prst="bentConnector3">
            <a:avLst/>
          </a:prstGeom>
          <a:ln w="9525">
            <a:solidFill>
              <a:srgbClr val="2E3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40756" y="4679802"/>
            <a:ext cx="691286" cy="1172357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643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6436" y="4368906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6676" y="4233190"/>
            <a:ext cx="691286" cy="1618969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235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2356" y="392229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596" y="3870318"/>
            <a:ext cx="691286" cy="1981841"/>
          </a:xfrm>
          <a:prstGeom prst="roundRect">
            <a:avLst>
              <a:gd name="adj" fmla="val 12000"/>
            </a:avLst>
          </a:prstGeom>
          <a:solidFill>
            <a:srgbClr val="C94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27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3559422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71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78516" y="3200400"/>
            <a:ext cx="691286" cy="2651760"/>
          </a:xfrm>
          <a:prstGeom prst="roundRect">
            <a:avLst>
              <a:gd name="adj" fmla="val 12000"/>
            </a:avLst>
          </a:prstGeom>
          <a:solidFill>
            <a:srgbClr val="1A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4196" y="590702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spc="6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4196" y="2889504"/>
            <a:ext cx="12399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 spc="12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37160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9144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We don't add headcount. We replace the process that needed 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5212080"/>
            <a:ext cx="1097280" cy="0"/>
          </a:xfrm>
          <a:prstGeom prst="bentConnector3">
            <a:avLst/>
          </a:prstGeom>
          <a:ln w="19050">
            <a:solidFill>
              <a:srgbClr val="1AB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00200" y="5349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spc="15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REFINERY · OPERATING 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84124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68249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252374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3364992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206240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047488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888736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729984"/>
            <a:ext cx="12191695" cy="0"/>
          </a:xfrm>
          <a:prstGeom prst="bentConnector3">
            <a:avLst/>
          </a:prstGeom>
          <a:ln w="6350">
            <a:solidFill>
              <a:srgbClr val="1F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spc="160">
                <a:solidFill>
                  <a:srgbClr val="C94A1A"/>
                </a:solidFill>
                <a:latin typeface="Urbanist"/>
                <a:cs typeface="Noto Sans Thai"/>
                <a:ea typeface="Noto Sans Thai"/>
              </a:rPr>
              <a:t>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000" b="0" spc="-5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Your Operations.
Replaced.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4206240"/>
            <a:ext cx="3840480" cy="0"/>
          </a:xfrm>
          <a:prstGeom prst="bentConnector3">
            <a:avLst/>
          </a:prstGeom>
          <a:ln w="19050">
            <a:solidFill>
              <a:srgbClr val="C94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www.refinery-agi.com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83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hello@refinery-agi.com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140">
                <a:solidFill>
                  <a:srgbClr val="8E9490"/>
                </a:solidFill>
                <a:latin typeface="Urbanist"/>
                <a:cs typeface="Noto Sans Thai"/>
                <a:ea typeface="Noto Sans Thai"/>
              </a:rPr>
              <a:t>BANGKOK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8BFBC"/>
                </a:solidFill>
                <a:latin typeface="Urbanist"/>
                <a:cs typeface="Noto Sans Thai"/>
                <a:ea typeface="Noto Sans Thai"/>
              </a:rPr>
              <a:t>Ratchada · Ramintra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7135" y="6126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spc="-30">
                <a:solidFill>
                  <a:srgbClr val="F0ECE4"/>
                </a:solidFill>
                <a:latin typeface="DM Serif Display"/>
                <a:cs typeface="Noto Sans Thai"/>
                <a:ea typeface="Noto Sans Thai"/>
              </a:rPr>
              <a:t>Refinery</a:t>
            </a:r>
            <a:r>
              <a:rPr sz="1800" b="0">
                <a:solidFill>
                  <a:srgbClr val="C94A1A"/>
                </a:solidFill>
                <a:latin typeface="DM Serif Display"/>
                <a:cs typeface="Noto Sans Thai"/>
                <a:ea typeface="Noto Sans Tha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